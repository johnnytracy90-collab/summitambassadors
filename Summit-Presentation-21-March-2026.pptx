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71" r:id="rId4"/>
    <p:sldMasterId id="2147483741" r:id="rId5"/>
    <p:sldMasterId id="2147483756" r:id="rId6"/>
    <p:sldMasterId id="2147483786" r:id="rId7"/>
  </p:sldMasterIdLst>
  <p:notesMasterIdLst>
    <p:notesMasterId r:id="rId68"/>
  </p:notesMasterIdLst>
  <p:sldIdLst>
    <p:sldId id="498" r:id="rId8"/>
    <p:sldId id="500" r:id="rId9"/>
    <p:sldId id="499" r:id="rId10"/>
    <p:sldId id="502" r:id="rId11"/>
    <p:sldId id="503" r:id="rId12"/>
    <p:sldId id="506" r:id="rId13"/>
    <p:sldId id="504" r:id="rId14"/>
    <p:sldId id="513" r:id="rId15"/>
    <p:sldId id="510" r:id="rId16"/>
    <p:sldId id="511" r:id="rId17"/>
    <p:sldId id="550" r:id="rId18"/>
    <p:sldId id="512" r:id="rId19"/>
    <p:sldId id="514" r:id="rId20"/>
    <p:sldId id="515" r:id="rId21"/>
    <p:sldId id="516" r:id="rId22"/>
    <p:sldId id="517" r:id="rId23"/>
    <p:sldId id="519" r:id="rId24"/>
    <p:sldId id="559" r:id="rId25"/>
    <p:sldId id="522" r:id="rId26"/>
    <p:sldId id="523" r:id="rId27"/>
    <p:sldId id="526" r:id="rId28"/>
    <p:sldId id="527" r:id="rId29"/>
    <p:sldId id="528" r:id="rId30"/>
    <p:sldId id="530" r:id="rId31"/>
    <p:sldId id="539" r:id="rId32"/>
    <p:sldId id="546" r:id="rId33"/>
    <p:sldId id="547" r:id="rId34"/>
    <p:sldId id="548" r:id="rId35"/>
    <p:sldId id="524" r:id="rId36"/>
    <p:sldId id="543" r:id="rId37"/>
    <p:sldId id="507" r:id="rId38"/>
    <p:sldId id="529" r:id="rId39"/>
    <p:sldId id="521" r:id="rId40"/>
    <p:sldId id="508" r:id="rId41"/>
    <p:sldId id="549" r:id="rId42"/>
    <p:sldId id="531" r:id="rId43"/>
    <p:sldId id="525" r:id="rId44"/>
    <p:sldId id="551" r:id="rId45"/>
    <p:sldId id="544" r:id="rId46"/>
    <p:sldId id="509" r:id="rId47"/>
    <p:sldId id="505" r:id="rId48"/>
    <p:sldId id="533" r:id="rId49"/>
    <p:sldId id="534" r:id="rId50"/>
    <p:sldId id="556" r:id="rId51"/>
    <p:sldId id="554" r:id="rId52"/>
    <p:sldId id="535" r:id="rId53"/>
    <p:sldId id="557" r:id="rId54"/>
    <p:sldId id="536" r:id="rId55"/>
    <p:sldId id="555" r:id="rId56"/>
    <p:sldId id="537" r:id="rId57"/>
    <p:sldId id="553" r:id="rId58"/>
    <p:sldId id="552" r:id="rId59"/>
    <p:sldId id="532" r:id="rId60"/>
    <p:sldId id="518" r:id="rId61"/>
    <p:sldId id="560" r:id="rId62"/>
    <p:sldId id="540" r:id="rId63"/>
    <p:sldId id="542" r:id="rId64"/>
    <p:sldId id="541" r:id="rId65"/>
    <p:sldId id="538" r:id="rId66"/>
    <p:sldId id="545" r:id="rId67"/>
  </p:sldIdLst>
  <p:sldSz cx="12192000" cy="6858000"/>
  <p:notesSz cx="7023100" cy="9309100"/>
  <p:embeddedFontLst>
    <p:embeddedFont>
      <p:font typeface="Franklin Gothic Demi" panose="020B0603020102020204" pitchFamily="34" charset="0"/>
      <p:regular r:id="rId69"/>
      <p:bold r:id="rId70"/>
      <p:italic r:id="rId71"/>
      <p:boldItalic r:id="rId72"/>
    </p:embeddedFont>
    <p:embeddedFont>
      <p:font typeface="Franklin Gothic Medium" panose="020B0603020102020204" pitchFamily="34" charset="0"/>
      <p:regular r:id="rId73"/>
      <p:italic r:id="rId74"/>
    </p:embeddedFont>
    <p:embeddedFont>
      <p:font typeface="Franklin Gothic Medium Cond" panose="020B0606030402020204" pitchFamily="34" charset="0"/>
      <p:regular r:id="rId75"/>
    </p:embeddedFont>
    <p:embeddedFont>
      <p:font typeface="Univers 45 Light" panose="020B0403020202020204" pitchFamily="34" charset="0"/>
      <p:regular r:id="rId76"/>
    </p:embeddedFont>
    <p:embeddedFont>
      <p:font typeface="Univers 65 Bold"/>
      <p:regular r:id="rId77"/>
      <p:bold r:id="rId78"/>
      <p:italic r:id="rId79"/>
      <p:boldItalic r:id="rId80"/>
    </p:embeddedFont>
    <p:embeddedFont>
      <p:font typeface="Wingdings 2" pitchFamily="2" charset="2"/>
      <p:regular r:id="rId8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lter Lester" initials="WL" lastIdx="11" clrIdx="0">
    <p:extLst>
      <p:ext uri="{19B8F6BF-5375-455C-9EA6-DF929625EA0E}">
        <p15:presenceInfo xmlns:p15="http://schemas.microsoft.com/office/powerpoint/2012/main" userId="S::walester@scouting.org::8e5e2ff3-3a3d-48be-b20e-45ae316db8b9" providerId="AD"/>
      </p:ext>
    </p:extLst>
  </p:cmAuthor>
  <p:cmAuthor id="2" name="Matthew Reineck" initials="MR" lastIdx="1" clrIdx="1">
    <p:extLst>
      <p:ext uri="{19B8F6BF-5375-455C-9EA6-DF929625EA0E}">
        <p15:presenceInfo xmlns:p15="http://schemas.microsoft.com/office/powerpoint/2012/main" userId="S::mreineck@scouting.org::4b98fe24-d039-45c6-a992-1b6bd9acca74" providerId="AD"/>
      </p:ext>
    </p:extLst>
  </p:cmAuthor>
  <p:cmAuthor id="3" name="Chris Perkins" initials="CP" lastIdx="3" clrIdx="2">
    <p:extLst>
      <p:ext uri="{19B8F6BF-5375-455C-9EA6-DF929625EA0E}">
        <p15:presenceInfo xmlns:p15="http://schemas.microsoft.com/office/powerpoint/2012/main" userId="S::chperkin@scouting.org::e3070f34-bd50-4ee7-9f31-4f6563b5f617" providerId="AD"/>
      </p:ext>
    </p:extLst>
  </p:cmAuthor>
  <p:cmAuthor id="4" name="Isaac Colvard" initials="IC" lastIdx="2" clrIdx="3">
    <p:extLst>
      <p:ext uri="{19B8F6BF-5375-455C-9EA6-DF929625EA0E}">
        <p15:presenceInfo xmlns:p15="http://schemas.microsoft.com/office/powerpoint/2012/main" userId="S::icolvard@scouting.org::da28c0a0-8e21-42ef-ba81-e7bad6f18d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9" autoAdjust="0"/>
    <p:restoredTop sz="94752"/>
  </p:normalViewPr>
  <p:slideViewPr>
    <p:cSldViewPr snapToGrid="0">
      <p:cViewPr varScale="1">
        <p:scale>
          <a:sx n="107" d="100"/>
          <a:sy n="107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notesMaster" Target="notesMasters/notesMaster1.xml"/><Relationship Id="rId84" Type="http://schemas.openxmlformats.org/officeDocument/2006/relationships/viewProps" Target="viewProps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font" Target="fonts/font13.fntdata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font" Target="fonts/font8.fntdata"/><Relationship Id="rId7" Type="http://schemas.openxmlformats.org/officeDocument/2006/relationships/slideMaster" Target="slideMasters/slideMaster4.xml"/><Relationship Id="rId71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61" Type="http://schemas.openxmlformats.org/officeDocument/2006/relationships/slide" Target="slides/slide54.xml"/><Relationship Id="rId8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800" cy="458788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1"/>
            <a:ext cx="2971800" cy="458788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r">
              <a:defRPr sz="1200"/>
            </a:lvl1pPr>
          </a:lstStyle>
          <a:p>
            <a:fld id="{4A89BF8E-0187-4210-B7F8-C22B54F0DCFE}" type="datetimeFigureOut">
              <a:rPr lang="en-US" smtClean="0"/>
              <a:t>10/1/26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481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9" tIns="45715" rIns="91429" bIns="4571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50"/>
          </a:xfrm>
          <a:prstGeom prst="rect">
            <a:avLst/>
          </a:prstGeom>
        </p:spPr>
        <p:txBody>
          <a:bodyPr vert="horz" lIns="91429" tIns="45715" rIns="91429" bIns="457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6"/>
          </a:xfrm>
          <a:prstGeom prst="rect">
            <a:avLst/>
          </a:prstGeom>
        </p:spPr>
        <p:txBody>
          <a:bodyPr vert="horz" lIns="91429" tIns="45715" rIns="91429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6"/>
          </a:xfrm>
          <a:prstGeom prst="rect">
            <a:avLst/>
          </a:prstGeom>
        </p:spPr>
        <p:txBody>
          <a:bodyPr vert="horz" lIns="91429" tIns="45715" rIns="91429" bIns="45715" rtlCol="0" anchor="b"/>
          <a:lstStyle>
            <a:lvl1pPr algn="r">
              <a:defRPr sz="1200"/>
            </a:lvl1pPr>
          </a:lstStyle>
          <a:p>
            <a:fld id="{FFBA16C8-03BD-4841-877A-FD675D80D3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47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444" y="1449151"/>
            <a:ext cx="10035117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8444" y="5280847"/>
            <a:ext cx="10035117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824F-25F3-43DC-84EE-0C97E75B077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4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999" y="2222287"/>
            <a:ext cx="10032004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2D35-2F28-45BE-AE0D-0D5EAB6DADDE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51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2951396"/>
            <a:ext cx="10035116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151" y="5281205"/>
            <a:ext cx="10035116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0DF-990F-45A2-9129-99B6FB55FA16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9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998" y="2222292"/>
            <a:ext cx="4894297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8" y="2222292"/>
            <a:ext cx="489429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0EBA-149B-4BEC-B9E9-D5D8D1994E3C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83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8" y="2174875"/>
            <a:ext cx="489429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9998" y="2751142"/>
            <a:ext cx="491652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8" y="2174875"/>
            <a:ext cx="489429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8" y="2751142"/>
            <a:ext cx="489429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8C1-D594-49A7-8D59-571D26808F5B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455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465A0-C084-443E-82CC-D317BE099860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8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AF11-6E40-4005-9130-647DBD79771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4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2" y="446091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2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6" y="446092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2" y="2260742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2F01-B2A6-491F-8B9C-307D5BD0C72C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26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997" y="727526"/>
            <a:ext cx="4668731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9997" y="2344684"/>
            <a:ext cx="4668731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3" y="6041366"/>
            <a:ext cx="976879" cy="365125"/>
          </a:xfrm>
        </p:spPr>
        <p:txBody>
          <a:bodyPr/>
          <a:lstStyle/>
          <a:p>
            <a:fld id="{AE1C6791-0040-4D52-93B0-1CE507E7341F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6"/>
            <a:ext cx="3295413" cy="365125"/>
          </a:xfrm>
        </p:spPr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92"/>
            <a:ext cx="1062155" cy="49059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6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800600"/>
            <a:ext cx="10035116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5367338"/>
            <a:ext cx="1003511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AD852-0EF4-45B8-9982-4453EF261D28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9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46809" y="1338479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097" y="1495525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303" y="4700707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198512" y="1338479"/>
            <a:ext cx="4403088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F73A-D676-484E-B77E-73098119A8A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930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5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92" y="2435961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5269" y="2286000"/>
            <a:ext cx="4895851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3360-9F2E-42DA-8514-C94C7A3D109D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084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AF8F-B607-4FB7-89A3-42BF014880AB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486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2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6978652" y="0"/>
            <a:ext cx="5213349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1" y="586171"/>
            <a:ext cx="2269067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3152" y="446089"/>
            <a:ext cx="6596501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CC5B-83D8-4C4D-A006-8E5D29D2B785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81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444" y="1449151"/>
            <a:ext cx="10035117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8444" y="5280847"/>
            <a:ext cx="10035117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824F-25F3-43DC-84EE-0C97E75B077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611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999" y="2222287"/>
            <a:ext cx="10032004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2D35-2F28-45BE-AE0D-0D5EAB6DADDE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7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2951396"/>
            <a:ext cx="10035116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151" y="5281205"/>
            <a:ext cx="10035116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0DF-990F-45A2-9129-99B6FB55FA16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389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998" y="2222292"/>
            <a:ext cx="4894297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8" y="2222292"/>
            <a:ext cx="489429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0EBA-149B-4BEC-B9E9-D5D8D1994E3C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239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8" y="2174875"/>
            <a:ext cx="489429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9998" y="2751142"/>
            <a:ext cx="491652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8" y="2174875"/>
            <a:ext cx="489429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8" y="2751142"/>
            <a:ext cx="489429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8C1-D594-49A7-8D59-571D26808F5B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97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465A0-C084-443E-82CC-D317BE099860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065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AF11-6E40-4005-9130-647DBD79771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7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2" y="446091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2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6" y="446092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2" y="2260742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2F01-B2A6-491F-8B9C-307D5BD0C72C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230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997" y="727526"/>
            <a:ext cx="4668731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9997" y="2344684"/>
            <a:ext cx="4668731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3" y="6041366"/>
            <a:ext cx="976879" cy="365125"/>
          </a:xfrm>
        </p:spPr>
        <p:txBody>
          <a:bodyPr/>
          <a:lstStyle/>
          <a:p>
            <a:fld id="{AE1C6791-0040-4D52-93B0-1CE507E7341F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6"/>
            <a:ext cx="3295413" cy="365125"/>
          </a:xfrm>
        </p:spPr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92"/>
            <a:ext cx="1062155" cy="49059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47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800600"/>
            <a:ext cx="10035116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5367338"/>
            <a:ext cx="1003511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AD852-0EF4-45B8-9982-4453EF261D28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1802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46809" y="1338479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097" y="1495525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303" y="4700707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198512" y="1338479"/>
            <a:ext cx="4403088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F73A-D676-484E-B77E-73098119A8A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513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5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92" y="2435961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5269" y="2286000"/>
            <a:ext cx="4895851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3360-9F2E-42DA-8514-C94C7A3D109D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524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AF8F-B607-4FB7-89A3-42BF014880AB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0025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2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6978652" y="0"/>
            <a:ext cx="5213349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1" y="586171"/>
            <a:ext cx="2269067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3152" y="446089"/>
            <a:ext cx="6596501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CC5B-83D8-4C4D-A006-8E5D29D2B785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600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444" y="1449151"/>
            <a:ext cx="10035117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8444" y="5280847"/>
            <a:ext cx="10035117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824F-25F3-43DC-84EE-0C97E75B077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024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999" y="2222287"/>
            <a:ext cx="10032004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2D35-2F28-45BE-AE0D-0D5EAB6DADDE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4550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2951396"/>
            <a:ext cx="10035116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151" y="5281205"/>
            <a:ext cx="10035116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0DF-990F-45A2-9129-99B6FB55FA16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2573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998" y="2222292"/>
            <a:ext cx="4894297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8" y="2222292"/>
            <a:ext cx="489429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0EBA-149B-4BEC-B9E9-D5D8D1994E3C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26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8" y="2174875"/>
            <a:ext cx="489429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9998" y="2751142"/>
            <a:ext cx="491652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8" y="2174875"/>
            <a:ext cx="489429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8" y="2751142"/>
            <a:ext cx="489429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F8C1-D594-49A7-8D59-571D26808F5B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178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465A0-C084-443E-82CC-D317BE099860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371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AF11-6E40-4005-9130-647DBD79771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378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2" y="446091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2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6" y="446092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2" y="2260742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2F01-B2A6-491F-8B9C-307D5BD0C72C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591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997" y="727526"/>
            <a:ext cx="4668731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9997" y="2344684"/>
            <a:ext cx="4668731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3" y="6041366"/>
            <a:ext cx="976879" cy="365125"/>
          </a:xfrm>
        </p:spPr>
        <p:txBody>
          <a:bodyPr/>
          <a:lstStyle/>
          <a:p>
            <a:fld id="{AE1C6791-0040-4D52-93B0-1CE507E7341F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6"/>
            <a:ext cx="3295413" cy="365125"/>
          </a:xfrm>
        </p:spPr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92"/>
            <a:ext cx="1062155" cy="49059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468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800600"/>
            <a:ext cx="10035116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5367338"/>
            <a:ext cx="1003511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AD852-0EF4-45B8-9982-4453EF261D28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467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46809" y="1338479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097" y="1495525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303" y="4700707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198512" y="1338479"/>
            <a:ext cx="4403088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F73A-D676-484E-B77E-73098119A8A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578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5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92" y="2435961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5269" y="2286000"/>
            <a:ext cx="4895851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3360-9F2E-42DA-8514-C94C7A3D109D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22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AF8F-B607-4FB7-89A3-42BF014880AB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7156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2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6978652" y="0"/>
            <a:ext cx="5213349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1" y="586171"/>
            <a:ext cx="2269067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3152" y="446089"/>
            <a:ext cx="6596501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CC5B-83D8-4C4D-A006-8E5D29D2B785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270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55CD7D8D-24E8-4BAB-9D05-3CFEDFFB5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6C3D4C-BCDC-4E36-BDA7-B4006BCA0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053" y="1363579"/>
            <a:ext cx="7371347" cy="2667752"/>
          </a:xfrm>
        </p:spPr>
        <p:txBody>
          <a:bodyPr anchor="b">
            <a:noAutofit/>
          </a:bodyPr>
          <a:lstStyle>
            <a:lvl1pPr algn="l">
              <a:lnSpc>
                <a:spcPct val="60000"/>
              </a:lnSpc>
              <a:defRPr sz="6600"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DA882-5A61-4F59-9590-9C794F0E1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053" y="4138947"/>
            <a:ext cx="7371347" cy="777958"/>
          </a:xfrm>
        </p:spPr>
        <p:txBody>
          <a:bodyPr/>
          <a:lstStyle>
            <a:lvl1pPr marL="0" indent="0" algn="l">
              <a:buNone/>
              <a:defRPr sz="1800">
                <a:solidFill>
                  <a:srgbClr val="4A512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35FB-CA94-4324-8DF0-2BF51FC1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824F-25F3-43DC-84EE-0C97E75B077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19BB3-F7FA-434B-AE7F-B9BF8869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7C446-5737-4459-86B9-4AAAD574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1720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53A5DF-5501-4F5F-BED3-D6D50EB0E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C9C447-016E-4FA8-9B51-4928B80C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F5639-9635-45C6-909E-945DF99C4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F2C4E-3F17-4576-9C5F-9AC202AB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527" y="5817626"/>
            <a:ext cx="859971" cy="365125"/>
          </a:xfrm>
        </p:spPr>
        <p:txBody>
          <a:bodyPr/>
          <a:lstStyle/>
          <a:p>
            <a:fld id="{4C392D35-2F28-45BE-AE0D-0D5EAB6DADDE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C8F1-CF48-493F-9BF6-A8588975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8116" y="6300976"/>
            <a:ext cx="4114800" cy="365125"/>
          </a:xfrm>
        </p:spPr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6364-3935-47DD-ADF4-D8E7EADA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811840"/>
            <a:ext cx="763675" cy="365125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30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BE2045C-875B-467A-8A35-89A5FF5E0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94829-F558-4192-B704-5DFEB88C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837" y="2351402"/>
            <a:ext cx="7778751" cy="2155199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B99CE-AEE0-4CFD-A042-5EA95AD6E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133474"/>
            <a:ext cx="10515600" cy="95617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A7DC-815A-4D8C-B138-3AE44069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B0DF-990F-45A2-9129-99B6FB55FA16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733CF-63CE-4845-AE3D-3AAA3B1C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885B-F7C0-468E-9213-F9D0BAA7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96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JSC | Titl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57E22A-7887-47BD-AF53-845E2E9D4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94829-F558-4192-B704-5DFEB88C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65" y="553383"/>
            <a:ext cx="10706436" cy="854631"/>
          </a:xfrm>
        </p:spPr>
        <p:txBody>
          <a:bodyPr anchor="b">
            <a:no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B99CE-AEE0-4CFD-A042-5EA95AD6E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365" y="5246765"/>
            <a:ext cx="10706436" cy="61996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A7DC-815A-4D8C-B138-3AE44069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733CF-63CE-4845-AE3D-3AAA3B1C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885B-F7C0-468E-9213-F9D0BAA7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43176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 | Titl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FB0BC67-A7EF-4127-B7E6-09FB430E3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94829-F558-4192-B704-5DFEB88C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65" y="553383"/>
            <a:ext cx="10706436" cy="854631"/>
          </a:xfrm>
        </p:spPr>
        <p:txBody>
          <a:bodyPr anchor="b">
            <a:no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A7DC-815A-4D8C-B138-3AE44069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733CF-63CE-4845-AE3D-3AAA3B1C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885B-F7C0-468E-9213-F9D0BAA7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E2D0CE8-CB43-4287-8DB2-3DC8FB7BF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365" y="5246765"/>
            <a:ext cx="10706436" cy="61996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930441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JSC |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0C2510C7-0C52-4022-82D6-DF3D36733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BE18E8-1D6D-4559-AFD2-16187901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7397-644C-4B47-88D5-585780842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C8808-FDAC-4DA9-B485-109E285E7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2C5FF-8434-4C8B-B90C-84E232AD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669" y="5811840"/>
            <a:ext cx="733531" cy="365125"/>
          </a:xfrm>
        </p:spPr>
        <p:txBody>
          <a:bodyPr/>
          <a:lstStyle>
            <a:lvl1pPr>
              <a:defRPr sz="675"/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BC755-C8CA-4AB2-A829-B4D0D246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20B7-DBF4-4E6B-8F4A-937B555E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5846" y="81846"/>
            <a:ext cx="501583" cy="283281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55714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 |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CA8FE2-42F8-49F6-A5CE-770343762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BE18E8-1D6D-4559-AFD2-16187901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7397-644C-4B47-88D5-585780842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C8808-FDAC-4DA9-B485-109E285E7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2C5FF-8434-4C8B-B90C-84E232AD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669" y="5811840"/>
            <a:ext cx="733531" cy="365125"/>
          </a:xfrm>
        </p:spPr>
        <p:txBody>
          <a:bodyPr/>
          <a:lstStyle>
            <a:lvl1pPr>
              <a:defRPr sz="675"/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BC755-C8CA-4AB2-A829-B4D0D246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20B7-DBF4-4E6B-8F4A-937B555E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5846" y="81846"/>
            <a:ext cx="501583" cy="283281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96692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SC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7C8616F0-A93D-4DA4-8394-766B6A81C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96B156-0BDA-4CBA-92B4-EC4B2532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9B927-3AC6-425F-94AA-AC7270546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AFBD1-5114-45B8-9346-5D7A9F2F0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63902-E9EF-4E62-9EE9-0277263FE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0B66D-A739-4BC8-8AC7-AF7EA8135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E2509-6FC5-44C0-955D-6FBD78DF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7464" y="5850428"/>
            <a:ext cx="689149" cy="365125"/>
          </a:xfrm>
        </p:spPr>
        <p:txBody>
          <a:bodyPr/>
          <a:lstStyle>
            <a:lvl1pPr>
              <a:defRPr sz="675"/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8463A-A592-46BB-99A8-0EAEADE9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5103E-F347-4AAB-82D7-F94A3E5B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0303" y="78416"/>
            <a:ext cx="514524" cy="28670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45257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HA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F9192B-2DDC-409F-B0C9-CEF34AEFF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96B156-0BDA-4CBA-92B4-EC4B2532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9B927-3AC6-425F-94AA-AC7270546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AFBD1-5114-45B8-9346-5D7A9F2F0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63902-E9EF-4E62-9EE9-0277263FE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0B66D-A739-4BC8-8AC7-AF7EA8135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E2509-6FC5-44C0-955D-6FBD78DF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7464" y="5850428"/>
            <a:ext cx="689149" cy="365125"/>
          </a:xfrm>
        </p:spPr>
        <p:txBody>
          <a:bodyPr/>
          <a:lstStyle>
            <a:lvl1pPr>
              <a:defRPr sz="675"/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8463A-A592-46BB-99A8-0EAEADE9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5103E-F347-4AAB-82D7-F94A3E5B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0303" y="78416"/>
            <a:ext cx="514524" cy="28670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65692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SC |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70FEB30F-152D-4C4A-88E2-194D58F97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538369-6762-4A57-8029-D1835949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4ED5E-FC5A-4223-AEAB-FFC6DA0C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0CE1-AF16-4BC5-8300-97215CF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101208"/>
            <a:ext cx="752560" cy="26391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ADA294D9-B619-455C-A539-8EE6AAC987A5}"/>
              </a:ext>
            </a:extLst>
          </p:cNvPr>
          <p:cNvSpPr txBox="1">
            <a:spLocks/>
          </p:cNvSpPr>
          <p:nvPr/>
        </p:nvSpPr>
        <p:spPr>
          <a:xfrm>
            <a:off x="69457" y="5862738"/>
            <a:ext cx="707379" cy="279119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9FC455-E25C-4D2E-83C1-DCBC1A7F0CA8}" type="datetimeFigureOut">
              <a:rPr lang="en-US" sz="675" smtClean="0"/>
              <a:pPr/>
              <a:t>10/1/26</a:t>
            </a:fld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2761491946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A |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650F8A-1DBA-48D0-9F7C-DAD2A2887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538369-6762-4A57-8029-D1835949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EECC6-47EE-47AF-8715-969D7792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57" y="5862738"/>
            <a:ext cx="707379" cy="279119"/>
          </a:xfrm>
        </p:spPr>
        <p:txBody>
          <a:bodyPr/>
          <a:lstStyle>
            <a:lvl1pPr>
              <a:defRPr sz="675"/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4ED5E-FC5A-4223-AEAB-FFC6DA0C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0CE1-AF16-4BC5-8300-97215CF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101208"/>
            <a:ext cx="752560" cy="263919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12196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129BAA5D-6814-4EB6-907C-E2FF7E04F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39948-EC28-43E2-B9CD-F00FEA01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AF11-6E40-4005-9130-647DBD79771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DB1E-4D7B-43CD-B759-AC3BFB49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3F764-C779-4488-A226-7B837B51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8106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JSC |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76247BED-3D9B-444A-A3E7-C3A6645D0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F88C8A-C8F5-46A5-A0B7-5E376D35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048F-4CB0-4116-93BC-A4C6393D3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F4716-5B42-4CE6-B0A5-3CC078E26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EA1E1-8F64-463A-9205-E118EC34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3A569-E247-4262-90E0-42511DF4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9D303-7B2B-4310-A76C-B2D92305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3839" y="169131"/>
            <a:ext cx="2743200" cy="288071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96246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HA |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EB92D85-993C-4EBB-88AC-2B21ACDF9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F88C8A-C8F5-46A5-A0B7-5E376D35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048F-4CB0-4116-93BC-A4C6393D3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F4716-5B42-4CE6-B0A5-3CC078E26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EA1E1-8F64-463A-9205-E118EC34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3A569-E247-4262-90E0-42511DF4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9D303-7B2B-4310-A76C-B2D92305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3839" y="169131"/>
            <a:ext cx="2743200" cy="288071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513028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SC |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7B3D5A97-1FB5-476B-B826-56B3AAF97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72BF76-7859-4354-87FF-C12E0933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82640-2D65-4491-A4AF-441C2EC28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4115" y="74136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0FE82-698C-4F65-8066-20B0B7428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11FC0-5B65-4768-8209-EEA4ED59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53266-0EB1-436C-B7AC-E4B896BE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A635B-023D-4FF8-AAB9-A737F5A8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2856" y="195945"/>
            <a:ext cx="2743200" cy="261257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14675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 |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8D5FA2-6A37-4722-BE82-1EFBF0A6B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72BF76-7859-4354-87FF-C12E0933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82640-2D65-4491-A4AF-441C2EC28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4115" y="74136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0FE82-698C-4F65-8066-20B0B7428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11FC0-5B65-4768-8209-EEA4ED59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53266-0EB1-436C-B7AC-E4B896BE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A635B-023D-4FF8-AAB9-A737F5A8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2856" y="195945"/>
            <a:ext cx="2743200" cy="261257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92246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+ Inf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0C5F89-DA75-454C-92D9-CC19C0884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CDFB30-F2A4-4009-BD10-30C80287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7642253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5289B-8E85-4F57-BAA8-14DEC5722D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58" y="6550531"/>
            <a:ext cx="2362201" cy="228600"/>
          </a:xfrm>
        </p:spPr>
        <p:txBody>
          <a:bodyPr/>
          <a:lstStyle/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0F74A4-7D18-4C4D-81D8-9EA4BA41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1249" y="6604632"/>
            <a:ext cx="2281955" cy="228600"/>
          </a:xfrm>
        </p:spPr>
        <p:txBody>
          <a:bodyPr/>
          <a:lstStyle/>
          <a:p>
            <a:r>
              <a:rPr lang="en-US" dirty="0"/>
              <a:t>Updated: 10/13/2016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0E436-459C-40EA-907A-7D139955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8715" y="6482270"/>
            <a:ext cx="453828" cy="365125"/>
          </a:xfrm>
        </p:spPr>
        <p:txBody>
          <a:bodyPr/>
          <a:lstStyle/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9479377-C537-4CCB-9557-FC25E016F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8588" y="2462004"/>
            <a:ext cx="3932237" cy="4511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75B6D58-75C9-49F9-863D-EC7618BD266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668588" y="3429002"/>
            <a:ext cx="3932237" cy="4511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8E7836-2299-41A8-A258-6096501480C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739015" y="4396000"/>
            <a:ext cx="2936916" cy="4511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@BechtelSummit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AB6413B-A91F-4701-BE6B-22742D652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9174" y="1537487"/>
            <a:ext cx="1494884" cy="2694648"/>
          </a:xfrm>
        </p:spPr>
        <p:txBody>
          <a:bodyPr>
            <a:noAutofit/>
          </a:bodyPr>
          <a:lstStyle>
            <a:lvl1pPr marL="214313" indent="-214313">
              <a:buFont typeface="Arial" panose="020B0604020202020204" pitchFamily="34" charset="0"/>
              <a:buChar char="•"/>
              <a:defRPr sz="1050"/>
            </a:lvl1pPr>
            <a:lvl2pPr>
              <a:defRPr sz="900"/>
            </a:lvl2pPr>
            <a:lvl3pPr>
              <a:defRPr sz="825"/>
            </a:lvl3pPr>
            <a:lvl4pPr>
              <a:defRPr sz="788"/>
            </a:lvl4pPr>
            <a:lvl5pPr>
              <a:defRPr sz="788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628096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9999" y="447188"/>
            <a:ext cx="10032004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9" y="2184404"/>
            <a:ext cx="10032004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397" y="6041366"/>
            <a:ext cx="8386043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Updated: 10/13/2016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5233" y="6041366"/>
            <a:ext cx="132421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9445" y="5915892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19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9999" y="447188"/>
            <a:ext cx="10032004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9" y="2184404"/>
            <a:ext cx="10032004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397" y="6041366"/>
            <a:ext cx="8386043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Updated: 10/13/2016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5233" y="6041366"/>
            <a:ext cx="132421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9445" y="5915892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52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9999" y="447188"/>
            <a:ext cx="10032004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9" y="2184404"/>
            <a:ext cx="10032004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397" y="6041366"/>
            <a:ext cx="8386043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Updated: 10/13/2016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5233" y="6041366"/>
            <a:ext cx="132421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9445" y="5915892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84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3A718-67FF-4943-9548-2A936109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E8515-5975-4BDA-8CC7-66C9C8942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77D8B-3E68-4629-8FC3-6B7D0AAA3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30B5A-CFAE-4E38-B4B6-70C24E896922}" type="datetime1">
              <a:rPr lang="en-US" smtClean="0"/>
              <a:t>10/1/26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C895F-78BF-4856-8034-E4FA66884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Updated: 10/13/2016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649D9-29BD-4010-BB2C-A7B9F1238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CEAB9-E9E8-46B1-801A-598EAF0F39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Franklin Gothic Demi" panose="020B07030201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Medium Cond" panose="020B06060304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Franklin Gothic Medium Cond" panose="020B06060304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Franklin Gothic Medium Cond" panose="020B06060304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Franklin Gothic Medium Cond" panose="020B06060304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mmiteventswv.com/" TargetMode="External"/><Relationship Id="rId2" Type="http://schemas.openxmlformats.org/officeDocument/2006/relationships/hyperlink" Target="http://www.summitbsa.org/training" TargetMode="Externa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ummitbsa.org/jobs" TargetMode="External"/><Relationship Id="rId1" Type="http://schemas.openxmlformats.org/officeDocument/2006/relationships/slideLayout" Target="../slideLayouts/slideLayout4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mmitbsa.org/" TargetMode="External"/><Relationship Id="rId2" Type="http://schemas.openxmlformats.org/officeDocument/2006/relationships/hyperlink" Target="mailto:Johnny.Tracy@scouting.org" TargetMode="External"/><Relationship Id="rId1" Type="http://schemas.openxmlformats.org/officeDocument/2006/relationships/slideLayout" Target="../slideLayouts/slideLayout4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698-DF7E-EFB5-B7C5-6D1D835C53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Programs and Opportunities at the Summit Bechtel Reserve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1BC3B-C446-FA7F-F278-DED19FDB6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053" y="4138947"/>
            <a:ext cx="7371347" cy="1355474"/>
          </a:xfrm>
        </p:spPr>
        <p:txBody>
          <a:bodyPr>
            <a:normAutofit/>
          </a:bodyPr>
          <a:lstStyle/>
          <a:p>
            <a:r>
              <a:rPr lang="en-US" dirty="0"/>
              <a:t>Johnny Tracy, onsite programs and outreach manager</a:t>
            </a:r>
          </a:p>
        </p:txBody>
      </p:sp>
    </p:spTree>
    <p:extLst>
      <p:ext uri="{BB962C8B-B14F-4D97-AF65-F5344CB8AC3E}">
        <p14:creationId xmlns:p14="http://schemas.microsoft.com/office/powerpoint/2010/main" val="306844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2A35-F592-0851-5A7A-41135236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1F6BAE-935E-A0C7-08CE-AF671A994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0121"/>
            <a:ext cx="12192000" cy="8124826"/>
          </a:xfrm>
        </p:spPr>
      </p:pic>
    </p:spTree>
    <p:extLst>
      <p:ext uri="{BB962C8B-B14F-4D97-AF65-F5344CB8AC3E}">
        <p14:creationId xmlns:p14="http://schemas.microsoft.com/office/powerpoint/2010/main" val="343402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B375-6FE3-AABE-8F93-0FDBD489C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</p:spTree>
    <p:extLst>
      <p:ext uri="{BB962C8B-B14F-4D97-AF65-F5344CB8AC3E}">
        <p14:creationId xmlns:p14="http://schemas.microsoft.com/office/powerpoint/2010/main" val="302632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F8CE-4743-00B2-E018-10A82F86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there to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B091A-5F6A-0B4F-143D-AB6A15444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25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0A35-9F87-3290-FA5E-52982C11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536"/>
            <a:ext cx="10515600" cy="37569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Summit Bechtel Reserve is the permanent home of the National Scout Jamboree and the occasional home of the World Scout Jamboree.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That’s it.</a:t>
            </a:r>
          </a:p>
        </p:txBody>
      </p:sp>
    </p:spTree>
    <p:extLst>
      <p:ext uri="{BB962C8B-B14F-4D97-AF65-F5344CB8AC3E}">
        <p14:creationId xmlns:p14="http://schemas.microsoft.com/office/powerpoint/2010/main" val="140094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26FDA3-BCA5-900D-E2E6-CEE8E80FCE86}"/>
              </a:ext>
            </a:extLst>
          </p:cNvPr>
          <p:cNvSpPr/>
          <p:nvPr/>
        </p:nvSpPr>
        <p:spPr>
          <a:xfrm>
            <a:off x="-1041722" y="-162046"/>
            <a:ext cx="13426633" cy="79286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74F82-55B5-BB0B-D2AD-F5471B89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20F0C-FFF3-210B-99C8-8B746E14A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2026 National Jamboree Adult Leadership | Montana Council">
            <a:extLst>
              <a:ext uri="{FF2B5EF4-FFF2-40B4-BE49-F238E27FC236}">
                <a16:creationId xmlns:a16="http://schemas.microsoft.com/office/drawing/2014/main" id="{CFB85266-1C68-EA87-5176-0D020716B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038" y="0"/>
            <a:ext cx="11590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59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0A35-9F87-3290-FA5E-52982C11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" y="89615"/>
            <a:ext cx="11845637" cy="5943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Just kidding!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Summit, a National High Adventure Base of the Scouting America, is the home of the James C. Justice National Scout Camp, five incredible high-adventure experiences, and countless other opportunities for Scouts and the wider community!</a:t>
            </a:r>
          </a:p>
        </p:txBody>
      </p:sp>
    </p:spTree>
    <p:extLst>
      <p:ext uri="{BB962C8B-B14F-4D97-AF65-F5344CB8AC3E}">
        <p14:creationId xmlns:p14="http://schemas.microsoft.com/office/powerpoint/2010/main" val="192984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30E0-F527-9D00-EA5A-ABF4EE59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3D155-C4FA-9264-D312-6F710F4D3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24481"/>
            <a:ext cx="12191999" cy="81333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D7CF2A-89D4-0753-8839-9DF831378B69}"/>
              </a:ext>
            </a:extLst>
          </p:cNvPr>
          <p:cNvSpPr txBox="1"/>
          <p:nvPr/>
        </p:nvSpPr>
        <p:spPr>
          <a:xfrm>
            <a:off x="555912" y="5784987"/>
            <a:ext cx="11080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Adventure. Service. Leadership. Sustainability. </a:t>
            </a:r>
          </a:p>
        </p:txBody>
      </p:sp>
    </p:spTree>
    <p:extLst>
      <p:ext uri="{BB962C8B-B14F-4D97-AF65-F5344CB8AC3E}">
        <p14:creationId xmlns:p14="http://schemas.microsoft.com/office/powerpoint/2010/main" val="339823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D0C5-EFB8-B3B2-AFFC-E705602B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12A3C9-0C73-DEB6-2F24-DCABB01CD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6254" y="-338444"/>
            <a:ext cx="12358254" cy="8228538"/>
          </a:xfrm>
        </p:spPr>
      </p:pic>
    </p:spTree>
    <p:extLst>
      <p:ext uri="{BB962C8B-B14F-4D97-AF65-F5344CB8AC3E}">
        <p14:creationId xmlns:p14="http://schemas.microsoft.com/office/powerpoint/2010/main" val="287008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9D25-D96D-193C-6F0C-12E5CBF4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8794CB-AC60-625C-BA08-E8CC6AB6B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3698"/>
            <a:ext cx="12191999" cy="8129984"/>
          </a:xfrm>
        </p:spPr>
      </p:pic>
    </p:spTree>
    <p:extLst>
      <p:ext uri="{BB962C8B-B14F-4D97-AF65-F5344CB8AC3E}">
        <p14:creationId xmlns:p14="http://schemas.microsoft.com/office/powerpoint/2010/main" val="182633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718F-E27D-AA3F-7406-15490ECD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D0D4-EFAC-5C6C-5F4B-A539FBE5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4F92E6D-6E9E-BCAC-9E6E-BA1918B05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5728" y="-824619"/>
            <a:ext cx="12477728" cy="831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27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A8B2-367A-B083-C8A2-4E3C94D9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7390D-6670-9BD9-3C9D-68864D4F3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9354" y="-956927"/>
            <a:ext cx="12581353" cy="8133649"/>
          </a:xfrm>
        </p:spPr>
      </p:pic>
    </p:spTree>
    <p:extLst>
      <p:ext uri="{BB962C8B-B14F-4D97-AF65-F5344CB8AC3E}">
        <p14:creationId xmlns:p14="http://schemas.microsoft.com/office/powerpoint/2010/main" val="242460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FE83-FDC0-BEB3-68F1-EB900CF7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99E65-90AC-9136-2666-B65253E47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6255" y="-173542"/>
            <a:ext cx="13868399" cy="9245599"/>
          </a:xfrm>
        </p:spPr>
      </p:pic>
    </p:spTree>
    <p:extLst>
      <p:ext uri="{BB962C8B-B14F-4D97-AF65-F5344CB8AC3E}">
        <p14:creationId xmlns:p14="http://schemas.microsoft.com/office/powerpoint/2010/main" val="262830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4179-9D6F-395C-9CDC-DD80F379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74FB75-6A8C-8F56-3513-CE431F28F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3182" y="-1167385"/>
            <a:ext cx="12538364" cy="8360723"/>
          </a:xfrm>
        </p:spPr>
      </p:pic>
    </p:spTree>
    <p:extLst>
      <p:ext uri="{BB962C8B-B14F-4D97-AF65-F5344CB8AC3E}">
        <p14:creationId xmlns:p14="http://schemas.microsoft.com/office/powerpoint/2010/main" val="418619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CFBA6-1D27-2E8C-B1B6-B5585CDB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F342-C020-C124-BEE9-97EB2CAD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C048-7172-4384-5E28-F59DC1517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4909" y="-494341"/>
            <a:ext cx="12857018" cy="85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5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9BC4-8334-A7F1-B0F4-682FB8BB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655A-170F-5431-5553-D45C02A9E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F3B5A6-C0F0-5088-9406-FD401FA79A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96438" y="-917946"/>
            <a:ext cx="13040837" cy="869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84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38BD-57A2-DD69-AB17-DF097BAC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A8A5C-6C75-2749-8A10-3B6B6BBDB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20CD4-7A31-54C5-033F-9A20F00E53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7980" y="-276720"/>
            <a:ext cx="13101180" cy="873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7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2115-A4DB-30DF-6C9E-F01A503B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9160C0-B2C5-571C-1EE6-E7CA2D065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849879"/>
            <a:ext cx="12311743" cy="9233807"/>
          </a:xfrm>
        </p:spPr>
      </p:pic>
    </p:spTree>
    <p:extLst>
      <p:ext uri="{BB962C8B-B14F-4D97-AF65-F5344CB8AC3E}">
        <p14:creationId xmlns:p14="http://schemas.microsoft.com/office/powerpoint/2010/main" val="2025547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6585-6BB3-161C-37AB-2E18CEF5B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is the Summit?</a:t>
            </a:r>
          </a:p>
        </p:txBody>
      </p:sp>
    </p:spTree>
    <p:extLst>
      <p:ext uri="{BB962C8B-B14F-4D97-AF65-F5344CB8AC3E}">
        <p14:creationId xmlns:p14="http://schemas.microsoft.com/office/powerpoint/2010/main" val="3190850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91EB-CD73-9BED-E1D7-A659BC4D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D388A-1B4D-B498-BDB3-79AE6D744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Scouting Out Geospatial Technology">
            <a:extLst>
              <a:ext uri="{FF2B5EF4-FFF2-40B4-BE49-F238E27FC236}">
                <a16:creationId xmlns:a16="http://schemas.microsoft.com/office/drawing/2014/main" id="{B2D39175-8834-C20F-EBA3-9D981C39C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60020" y="-1849120"/>
            <a:ext cx="12352020" cy="1007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17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6585-6BB3-161C-37AB-2E18CEF5B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big is the Summit?</a:t>
            </a:r>
          </a:p>
        </p:txBody>
      </p:sp>
    </p:spTree>
    <p:extLst>
      <p:ext uri="{BB962C8B-B14F-4D97-AF65-F5344CB8AC3E}">
        <p14:creationId xmlns:p14="http://schemas.microsoft.com/office/powerpoint/2010/main" val="2931675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7DCB05-1ECE-9349-AB03-CDE8B55F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63289" cy="6252716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593C587-B51B-8BEF-53C6-47CAE16DB694}"/>
              </a:ext>
            </a:extLst>
          </p:cNvPr>
          <p:cNvSpPr txBox="1">
            <a:spLocks/>
          </p:cNvSpPr>
          <p:nvPr/>
        </p:nvSpPr>
        <p:spPr>
          <a:xfrm>
            <a:off x="9926054" y="455347"/>
            <a:ext cx="2119191" cy="5342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b="1" kern="1200">
                <a:solidFill>
                  <a:schemeClr val="tx1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10,600 acres on the main site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+</a:t>
            </a:r>
          </a:p>
          <a:p>
            <a:endParaRPr lang="en-US" sz="2400" dirty="0"/>
          </a:p>
          <a:p>
            <a:r>
              <a:rPr lang="en-US" sz="2400" dirty="0"/>
              <a:t>More than 4,000 acres in the area!</a:t>
            </a:r>
          </a:p>
        </p:txBody>
      </p:sp>
    </p:spTree>
    <p:extLst>
      <p:ext uri="{BB962C8B-B14F-4D97-AF65-F5344CB8AC3E}">
        <p14:creationId xmlns:p14="http://schemas.microsoft.com/office/powerpoint/2010/main" val="3904491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BAF3-C469-33EF-2B82-4EDE0810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48ACA4-0F1D-7CE1-A2DD-3F8A1E507A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03454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03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207E-E868-58C5-1558-79AE2F98D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90BA2-3240-2773-815E-445E00042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 descr="Tudor's Biscuit World Serves Up West Virginia's Favorite Breakfast All Day  Long">
            <a:extLst>
              <a:ext uri="{FF2B5EF4-FFF2-40B4-BE49-F238E27FC236}">
                <a16:creationId xmlns:a16="http://schemas.microsoft.com/office/drawing/2014/main" id="{CF0C69BB-67EC-A20B-ABDF-7615AE99E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01493"/>
            <a:ext cx="12192000" cy="695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216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2D05-6CAA-8F1F-1245-FD7D29B3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E1E6D-3305-D7AC-1291-E31DA1A2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9E6EFCA3-51E7-DE8A-4A94-9B468B23F0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6"/>
          <a:stretch/>
        </p:blipFill>
        <p:spPr>
          <a:xfrm>
            <a:off x="-853440" y="-4428418"/>
            <a:ext cx="13045440" cy="16222309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4937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D4E9-F4C0-CB24-BC97-16228049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21D9-2DA1-EBF7-6C02-E5A704266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954F71-D934-DF37-ECF2-C4B0640779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4587" y="-886692"/>
            <a:ext cx="12341173" cy="822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04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4942-63A0-B374-5BD5-758907E5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88CB-E3EC-FDF7-4B68-13B43D7E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608EF-0BC9-4D8C-85F8-2135FD5E2E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20775"/>
            <a:ext cx="12192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54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5EFD-D38E-873B-7221-145B1C8A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C71-429A-75A7-E90F-37A4375AD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D122E-CBCF-DB63-99FA-C61AC6FEB7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7858" y="-284784"/>
            <a:ext cx="12299858" cy="819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34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16B4-AAED-F730-C1CB-EC97C14D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3C91-AB3E-D0F4-DD39-7675635C4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764B5-A5AE-BB9C-7858-10110ED9C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70560" y="-172401"/>
            <a:ext cx="13091600" cy="870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07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B7B4-2B7B-EB85-BEDF-7C115878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9732A-1EFA-FB5F-5F6B-7F94A6FCB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9B1B9-4AF0-84A3-426E-7E236BF2A9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6254" y="-1704730"/>
            <a:ext cx="12469090" cy="935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717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8679-4196-5EA2-349F-56DDD7BB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Camp at the Summit</a:t>
            </a:r>
          </a:p>
        </p:txBody>
      </p:sp>
    </p:spTree>
    <p:extLst>
      <p:ext uri="{BB962C8B-B14F-4D97-AF65-F5344CB8AC3E}">
        <p14:creationId xmlns:p14="http://schemas.microsoft.com/office/powerpoint/2010/main" val="2125741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D8F1-E8D9-72C9-479E-90248B61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906F-64D9-E107-25EB-887086555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83AADB8-1AD2-2019-FF3B-5614D09AF6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6132" y="-764008"/>
            <a:ext cx="12584263" cy="838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56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844B5-D0BD-1014-D496-FEB60A8DB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B4885B-132E-EE6F-2D06-5AB0838D9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800" y="-264240"/>
            <a:ext cx="12496799" cy="8327945"/>
          </a:xfrm>
        </p:spPr>
      </p:pic>
    </p:spTree>
    <p:extLst>
      <p:ext uri="{BB962C8B-B14F-4D97-AF65-F5344CB8AC3E}">
        <p14:creationId xmlns:p14="http://schemas.microsoft.com/office/powerpoint/2010/main" val="3160084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8950-F201-AF74-7ED0-1D78B904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James C. Justice National Scout Camp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A4A89-86A6-40BD-BC12-D1FDD6FC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James C. Justice National Scout Camp offers a robust Scout summer camp experience, primarily focused on advancement and enrichment</a:t>
            </a:r>
          </a:p>
          <a:p>
            <a:r>
              <a:rPr lang="en-US" sz="2400" dirty="0"/>
              <a:t>More than eighty merit badges are offered, across an array of program areas</a:t>
            </a:r>
          </a:p>
          <a:p>
            <a:r>
              <a:rPr lang="en-US" sz="2400" dirty="0"/>
              <a:t>Traditional programs include:</a:t>
            </a:r>
          </a:p>
          <a:p>
            <a:pPr lvl="1"/>
            <a:r>
              <a:rPr lang="en-US" sz="2100" dirty="0"/>
              <a:t>Scoutcraft/outdoor skills + first-year camper program</a:t>
            </a:r>
          </a:p>
          <a:p>
            <a:pPr lvl="1"/>
            <a:r>
              <a:rPr lang="en-US" sz="2100" dirty="0"/>
              <a:t>Ecology and conservation</a:t>
            </a:r>
          </a:p>
          <a:p>
            <a:pPr lvl="1"/>
            <a:r>
              <a:rPr lang="en-US" sz="2100" dirty="0"/>
              <a:t>S.T.E.M. and arts, media, and handicrafts (S.T.E.A.M.)</a:t>
            </a:r>
          </a:p>
          <a:p>
            <a:pPr lvl="1"/>
            <a:r>
              <a:rPr lang="en-US" sz="2100" dirty="0"/>
              <a:t>Citizenship/vocations</a:t>
            </a:r>
          </a:p>
          <a:p>
            <a:pPr lvl="1"/>
            <a:r>
              <a:rPr lang="en-US" sz="2100" dirty="0"/>
              <a:t>Aquatics</a:t>
            </a:r>
          </a:p>
          <a:p>
            <a:pPr lvl="1"/>
            <a:r>
              <a:rPr lang="en-US" sz="2100" dirty="0"/>
              <a:t>C.O.P.E. and climbing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8078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139A-8010-854D-113B-E7FBD6FC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4CA89-6FA7-B80A-818B-C0AAC49E9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71A98-DEC9-F472-0934-7105AEF17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2401" y="-681782"/>
            <a:ext cx="12344401" cy="822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34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6F11-ABB9-BC8B-E524-7E82B9A6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High-adventure Buy-up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ED269-08EA-DA0D-3DB8-D77006066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Scout camp participants have access to a variety of adventure-sports program venues and opportunities, including</a:t>
            </a:r>
          </a:p>
          <a:p>
            <a:pPr lvl="1"/>
            <a:r>
              <a:rPr lang="en-US" sz="2100" dirty="0"/>
              <a:t>Alexander’s Eagle Flight (the Big Zip)</a:t>
            </a:r>
          </a:p>
          <a:p>
            <a:pPr lvl="1"/>
            <a:r>
              <a:rPr lang="en-US" sz="2100" dirty="0"/>
              <a:t>Aerial sports (the Rocks, Alexander’s Eagle Flight, Action Point Canopy)</a:t>
            </a:r>
          </a:p>
          <a:p>
            <a:pPr lvl="1"/>
            <a:r>
              <a:rPr lang="en-US" sz="2100" dirty="0"/>
              <a:t>Target sports at Bows and Barrels</a:t>
            </a:r>
          </a:p>
          <a:p>
            <a:pPr lvl="1"/>
            <a:r>
              <a:rPr lang="en-US" sz="2100" dirty="0"/>
              <a:t>Skateboarding and B.M.X. at the Park and the Trax, on Thrasher Mountain</a:t>
            </a:r>
          </a:p>
          <a:p>
            <a:pPr lvl="1"/>
            <a:r>
              <a:rPr lang="en-US" sz="2100" dirty="0"/>
              <a:t>Whitewater rafting on the New River (half-day program or merit badge)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365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F88B-AB0E-8DCB-BA0A-6EEA6CDA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Summer Camp at the Summit?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47AEC-3AB1-E532-CBBD-596261C3A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Summer camp at the James C. Justice National Scout Camp at the Summit is unlike any other</a:t>
            </a:r>
          </a:p>
          <a:p>
            <a:r>
              <a:rPr lang="en-US" sz="2400" dirty="0"/>
              <a:t>Huge menu of merit badge options from which to choose</a:t>
            </a:r>
          </a:p>
          <a:p>
            <a:r>
              <a:rPr lang="en-US" sz="2400" dirty="0"/>
              <a:t>Excellent first-year camper (Brownsea Island) program</a:t>
            </a:r>
          </a:p>
          <a:p>
            <a:r>
              <a:rPr lang="en-US" sz="2400" dirty="0"/>
              <a:t>Quality instruction provided by trained Scouters (eighteen or older)</a:t>
            </a:r>
          </a:p>
          <a:p>
            <a:r>
              <a:rPr lang="en-US" sz="2400" dirty="0"/>
              <a:t>Amazing high-adventure opportunities available through buy-up programs or available to participants throughout the week</a:t>
            </a:r>
          </a:p>
        </p:txBody>
      </p:sp>
    </p:spTree>
    <p:extLst>
      <p:ext uri="{BB962C8B-B14F-4D97-AF65-F5344CB8AC3E}">
        <p14:creationId xmlns:p14="http://schemas.microsoft.com/office/powerpoint/2010/main" val="1369127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840F-FE8C-C133-6A93-361695B7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9CB48-B1E5-E014-CB6E-5708D763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D6E7F-71B3-CE0D-3970-4860C94D9F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72363" y="-534567"/>
            <a:ext cx="12439672" cy="829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077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9D01-5EB4-F5EE-4BBF-831F4F6C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EA75-6383-6705-F08E-9C4317E6D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0B370-D47A-707B-1640-0F5BC354A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9664" y="-651173"/>
            <a:ext cx="12351328" cy="822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23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5E92-BBBA-9E06-DD19-6E4BE6BD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own adventure! </a:t>
            </a:r>
          </a:p>
        </p:txBody>
      </p:sp>
    </p:spTree>
    <p:extLst>
      <p:ext uri="{BB962C8B-B14F-4D97-AF65-F5344CB8AC3E}">
        <p14:creationId xmlns:p14="http://schemas.microsoft.com/office/powerpoint/2010/main" val="5177937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8950-F201-AF74-7ED0-1D78B904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High-adventure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A4A89-86A6-40BD-BC12-D1FDD6FC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Summit offers six different high-adventure programs, each of which focus on challenging outdoor adventure, application of Scout skills, fun and joy, and celebrating success</a:t>
            </a:r>
          </a:p>
          <a:p>
            <a:pPr lvl="1"/>
            <a:r>
              <a:rPr lang="en-US" sz="2100" dirty="0"/>
              <a:t>Summit Experience (the high-adventure buffet—try everything!)</a:t>
            </a:r>
          </a:p>
          <a:p>
            <a:pPr lvl="1"/>
            <a:r>
              <a:rPr lang="en-US" sz="2100" dirty="0"/>
              <a:t>New River Experience (rafting and river)</a:t>
            </a:r>
          </a:p>
          <a:p>
            <a:pPr lvl="1"/>
            <a:r>
              <a:rPr lang="en-US" sz="2100" dirty="0"/>
              <a:t>Polaris A.T.V. Experience (Who doesn’t love A.T.V.s?)</a:t>
            </a:r>
          </a:p>
          <a:p>
            <a:pPr lvl="1"/>
            <a:r>
              <a:rPr lang="en-US" sz="2100" dirty="0"/>
              <a:t>Marksman Experience (target sports emphasis)</a:t>
            </a:r>
          </a:p>
          <a:p>
            <a:pPr lvl="1"/>
            <a:r>
              <a:rPr lang="en-US" sz="2100" dirty="0"/>
              <a:t>Pack n’ Paddle Experience (hiking and rafting)</a:t>
            </a:r>
          </a:p>
        </p:txBody>
      </p:sp>
    </p:spTree>
    <p:extLst>
      <p:ext uri="{BB962C8B-B14F-4D97-AF65-F5344CB8AC3E}">
        <p14:creationId xmlns:p14="http://schemas.microsoft.com/office/powerpoint/2010/main" val="3297293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8B04-CA89-E490-2FB8-8C56275A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Summit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A530C-CDFB-E980-AEC5-007A8631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Includes all onsite high-adventure activities</a:t>
            </a:r>
          </a:p>
          <a:p>
            <a:pPr lvl="1"/>
            <a:r>
              <a:rPr lang="en-US" sz="2100" dirty="0"/>
              <a:t>Aerial sports at the Rocks (climbing, rappelling, Leap of Faith)</a:t>
            </a:r>
          </a:p>
          <a:p>
            <a:pPr lvl="1"/>
            <a:r>
              <a:rPr lang="en-US" sz="2100" dirty="0"/>
              <a:t>Big Zip (Alexander’s Eagle Flight)</a:t>
            </a:r>
          </a:p>
          <a:p>
            <a:pPr lvl="1"/>
            <a:r>
              <a:rPr lang="en-US" sz="2100" dirty="0"/>
              <a:t>Canopy zipline tour</a:t>
            </a:r>
          </a:p>
          <a:p>
            <a:pPr lvl="1"/>
            <a:r>
              <a:rPr lang="en-US" sz="2100" dirty="0"/>
              <a:t>Hunter education and laser shot</a:t>
            </a:r>
          </a:p>
          <a:p>
            <a:pPr lvl="1"/>
            <a:r>
              <a:rPr lang="en-US" sz="2100" dirty="0"/>
              <a:t>Mountain biking</a:t>
            </a:r>
          </a:p>
          <a:p>
            <a:pPr lvl="1"/>
            <a:r>
              <a:rPr lang="en-US" sz="2100" dirty="0"/>
              <a:t>Static, long-distance, target, and action archery</a:t>
            </a:r>
          </a:p>
          <a:p>
            <a:pPr lvl="1"/>
            <a:r>
              <a:rPr lang="en-US" sz="2100" dirty="0"/>
              <a:t>Shotgun and rifle (.22, .223, .308)</a:t>
            </a:r>
          </a:p>
          <a:p>
            <a:pPr lvl="1"/>
            <a:r>
              <a:rPr lang="en-US" sz="2100" dirty="0"/>
              <a:t>Skateboarding</a:t>
            </a:r>
          </a:p>
          <a:p>
            <a:pPr lvl="1"/>
            <a:r>
              <a:rPr lang="en-US" sz="2100" dirty="0"/>
              <a:t>BMX</a:t>
            </a:r>
          </a:p>
          <a:p>
            <a:pPr lvl="1"/>
            <a:r>
              <a:rPr lang="en-US" sz="2100" dirty="0"/>
              <a:t>Whitewater rafting</a:t>
            </a:r>
          </a:p>
          <a:p>
            <a:pPr lvl="1"/>
            <a:r>
              <a:rPr lang="en-US" sz="2100" dirty="0"/>
              <a:t>Onsite aquatics</a:t>
            </a:r>
          </a:p>
        </p:txBody>
      </p:sp>
    </p:spTree>
    <p:extLst>
      <p:ext uri="{BB962C8B-B14F-4D97-AF65-F5344CB8AC3E}">
        <p14:creationId xmlns:p14="http://schemas.microsoft.com/office/powerpoint/2010/main" val="19812882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FD85-0F3B-C44E-BC25-3EC7BC71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River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6AF5-5DE6-C0B5-D820-02A70440C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Fifty-mile paddle trek on the New River</a:t>
            </a:r>
          </a:p>
          <a:p>
            <a:r>
              <a:rPr lang="en-US" sz="2400" dirty="0"/>
              <a:t>Navigate the upper portion of the river in inflatable kayaks called “duckies” </a:t>
            </a:r>
          </a:p>
          <a:p>
            <a:pPr lvl="1"/>
            <a:r>
              <a:rPr lang="en-US" sz="2100" dirty="0"/>
              <a:t>This portion of the river includes Class I to III rapids</a:t>
            </a:r>
          </a:p>
          <a:p>
            <a:r>
              <a:rPr lang="en-US" sz="2400" dirty="0"/>
              <a:t>The final whitewater day in the Lower Canyon is a rafting experience</a:t>
            </a:r>
          </a:p>
          <a:p>
            <a:pPr lvl="1"/>
            <a:r>
              <a:rPr lang="en-US" sz="2100" dirty="0"/>
              <a:t>Includes Class III to IV rapids</a:t>
            </a:r>
          </a:p>
          <a:p>
            <a:r>
              <a:rPr lang="en-US" sz="2400" dirty="0"/>
              <a:t>Crews camp along the river through the New River Gorge</a:t>
            </a:r>
          </a:p>
          <a:p>
            <a:r>
              <a:rPr lang="en-US" sz="2400" dirty="0"/>
              <a:t>A gear boat (raft) accompanies the group to transport gear and food</a:t>
            </a:r>
          </a:p>
          <a:p>
            <a:r>
              <a:rPr lang="en-US" sz="2400" dirty="0"/>
              <a:t>Includes a ride on the Big Zip (Alexander’s Eagle Flight)</a:t>
            </a:r>
          </a:p>
          <a:p>
            <a:r>
              <a:rPr lang="en-US" sz="2400" dirty="0"/>
              <a:t>2026 (limited) and 2027 availability!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2616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27B1-69B1-52F4-0020-4E42A3E5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C8C59-0BC8-F113-B61E-903222515D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87982" y="-196364"/>
            <a:ext cx="12379982" cy="825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171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4D17-D1A1-351D-2E2D-8DB8DC36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A71D2-9D26-B715-05F4-76EDCD100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3964" y="-192016"/>
            <a:ext cx="12385964" cy="8257309"/>
          </a:xfrm>
        </p:spPr>
      </p:pic>
    </p:spTree>
    <p:extLst>
      <p:ext uri="{BB962C8B-B14F-4D97-AF65-F5344CB8AC3E}">
        <p14:creationId xmlns:p14="http://schemas.microsoft.com/office/powerpoint/2010/main" val="1768425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C074-854F-4CCC-B991-9EAFB91B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Polaris A.T.V.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5E51-158F-8384-5A99-00EDA265E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Sixty-mile, onsite A.T.V. trek</a:t>
            </a:r>
          </a:p>
          <a:p>
            <a:r>
              <a:rPr lang="en-US" sz="2400" dirty="0"/>
              <a:t>Includes A.S.I. training and extensive safety and handling instruction</a:t>
            </a:r>
          </a:p>
          <a:p>
            <a:r>
              <a:rPr lang="en-US" sz="2400" dirty="0"/>
              <a:t>Single-track, double-track, and gravel trails</a:t>
            </a:r>
          </a:p>
          <a:p>
            <a:r>
              <a:rPr lang="en-US" sz="2400" dirty="0"/>
              <a:t>Maintenance and repair training</a:t>
            </a:r>
          </a:p>
          <a:p>
            <a:r>
              <a:rPr lang="en-US" sz="2400" dirty="0"/>
              <a:t>Whitewater rafting</a:t>
            </a:r>
          </a:p>
          <a:p>
            <a:r>
              <a:rPr lang="en-US" sz="2400" dirty="0"/>
              <a:t>Alexander’s Eagle Flight (Big Zip)</a:t>
            </a:r>
          </a:p>
          <a:p>
            <a:r>
              <a:rPr lang="en-US" sz="2400" dirty="0"/>
              <a:t>2026 (limited) and 2027 (limited) availability!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05606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7457-044B-8344-8BB4-C378F620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0D5F-96FB-59BF-8E1B-01E9BAAD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 descr="Polaris® OHV Center for Excellence - The Summit Bechtel Reserve">
            <a:extLst>
              <a:ext uri="{FF2B5EF4-FFF2-40B4-BE49-F238E27FC236}">
                <a16:creationId xmlns:a16="http://schemas.microsoft.com/office/drawing/2014/main" id="{AA4B663B-A8F6-E609-B3D0-7262EC582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18655" y="-847437"/>
            <a:ext cx="12510655" cy="834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8311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B48C-60FE-5752-D24D-B0E03D3C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Marksman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0FFD8-B1CB-7186-0145-EFC42793B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Five-stand shotgun</a:t>
            </a:r>
          </a:p>
          <a:p>
            <a:r>
              <a:rPr lang="en-US" sz="2400" dirty="0"/>
              <a:t>Sporting clays</a:t>
            </a:r>
          </a:p>
          <a:p>
            <a:r>
              <a:rPr lang="en-US" sz="2400" dirty="0"/>
              <a:t>.22 pistol, 9mm pistol</a:t>
            </a:r>
          </a:p>
          <a:p>
            <a:r>
              <a:rPr lang="en-US" sz="2400" dirty="0"/>
              <a:t>.22, .223, .308 rifle</a:t>
            </a:r>
          </a:p>
          <a:p>
            <a:r>
              <a:rPr lang="en-US" sz="2400" dirty="0"/>
              <a:t>.224 Valkyrie on thousand-yard range </a:t>
            </a:r>
          </a:p>
          <a:p>
            <a:r>
              <a:rPr lang="en-US" sz="2400" dirty="0"/>
              <a:t>Whitewater rafting</a:t>
            </a:r>
          </a:p>
          <a:p>
            <a:r>
              <a:rPr lang="en-US" sz="2400" dirty="0"/>
              <a:t>Alexander’s Eagle Flight (Big Zip)</a:t>
            </a:r>
          </a:p>
          <a:p>
            <a:r>
              <a:rPr lang="en-US" sz="2400" dirty="0"/>
              <a:t>2026 and 2027 availability!</a:t>
            </a:r>
          </a:p>
        </p:txBody>
      </p:sp>
    </p:spTree>
    <p:extLst>
      <p:ext uri="{BB962C8B-B14F-4D97-AF65-F5344CB8AC3E}">
        <p14:creationId xmlns:p14="http://schemas.microsoft.com/office/powerpoint/2010/main" val="19991973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D09B-5718-0043-257B-799F0E11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Shooting Range">
            <a:extLst>
              <a:ext uri="{FF2B5EF4-FFF2-40B4-BE49-F238E27FC236}">
                <a16:creationId xmlns:a16="http://schemas.microsoft.com/office/drawing/2014/main" id="{ADD84413-287D-4458-1A11-0D4644979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80554" y="-1457036"/>
            <a:ext cx="12472554" cy="831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9246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B9A6-6BE7-44C8-1B4C-2DC76161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 n’ Paddle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28EB6-39C1-6837-CF0F-450F9CCC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Forty-plus miles of hiking</a:t>
            </a:r>
          </a:p>
          <a:p>
            <a:pPr lvl="1"/>
            <a:r>
              <a:rPr lang="en-US" sz="2000" dirty="0"/>
              <a:t>Introductory backpacking techniques </a:t>
            </a:r>
          </a:p>
          <a:p>
            <a:pPr lvl="1"/>
            <a:r>
              <a:rPr lang="en-US" sz="2000" dirty="0"/>
              <a:t>Historical interpretation</a:t>
            </a:r>
          </a:p>
          <a:p>
            <a:pPr lvl="1"/>
            <a:r>
              <a:rPr lang="en-US" sz="2000" dirty="0"/>
              <a:t>Walk through local history of southern West Virginia</a:t>
            </a:r>
            <a:endParaRPr lang="en-US" sz="2100" dirty="0"/>
          </a:p>
          <a:p>
            <a:r>
              <a:rPr lang="en-US" sz="2400" dirty="0"/>
              <a:t>Whitewater rafting</a:t>
            </a:r>
          </a:p>
          <a:p>
            <a:r>
              <a:rPr lang="en-US" sz="2400" dirty="0"/>
              <a:t>Opportunities for development and experience</a:t>
            </a:r>
          </a:p>
          <a:p>
            <a:pPr lvl="1"/>
            <a:r>
              <a:rPr lang="en-US" sz="2100" dirty="0"/>
              <a:t>Teambuilding experiences </a:t>
            </a:r>
          </a:p>
          <a:p>
            <a:pPr lvl="1"/>
            <a:r>
              <a:rPr lang="en-US" sz="2100" dirty="0"/>
              <a:t>Leave No Trace training and application</a:t>
            </a:r>
          </a:p>
          <a:p>
            <a:r>
              <a:rPr lang="en-US" sz="2400" dirty="0"/>
              <a:t>Alexander’s Eagle Flight (Big Zip)</a:t>
            </a:r>
          </a:p>
          <a:p>
            <a:r>
              <a:rPr lang="en-US" sz="2400" dirty="0"/>
              <a:t>2026 and 2027 availability!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5142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5CC3-3399-F60A-856E-4827D2CE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C3BE4-1FF4-72AA-DDEB-F6F7887EF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2596" y="-639978"/>
            <a:ext cx="12947831" cy="8631887"/>
          </a:xfrm>
        </p:spPr>
      </p:pic>
    </p:spTree>
    <p:extLst>
      <p:ext uri="{BB962C8B-B14F-4D97-AF65-F5344CB8AC3E}">
        <p14:creationId xmlns:p14="http://schemas.microsoft.com/office/powerpoint/2010/main" val="2549202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DA63-CC67-3BED-97BA-4EE29342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F9F4E-AF15-1D18-4773-32A392AF7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59D0A-9EA7-D16D-E99A-FDD613ED0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092" y="-1116998"/>
            <a:ext cx="12469091" cy="830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837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143C-1F43-B31C-2B4C-57E05A72B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Evening Programs (open to all)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681BA-C216-0114-2958-F43039402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Appalachian Celebration (camp-wide program each Monday night)</a:t>
            </a:r>
          </a:p>
          <a:p>
            <a:r>
              <a:rPr lang="en-US" sz="2400" dirty="0"/>
              <a:t>Legacy and Gateway Zips</a:t>
            </a:r>
          </a:p>
          <a:p>
            <a:r>
              <a:rPr lang="en-US" sz="2400" dirty="0"/>
              <a:t>Laser shot in the Crafton Skills Center</a:t>
            </a:r>
          </a:p>
          <a:p>
            <a:r>
              <a:rPr lang="en-US" sz="2400" dirty="0"/>
              <a:t>Boulder Cove (climbing)</a:t>
            </a:r>
          </a:p>
          <a:p>
            <a:r>
              <a:rPr lang="en-US" sz="2400" dirty="0"/>
              <a:t>Boating and swimming (Goodrich Lake West)</a:t>
            </a:r>
          </a:p>
          <a:p>
            <a:r>
              <a:rPr lang="en-US" sz="2400" dirty="0"/>
              <a:t>Skateboarding</a:t>
            </a:r>
          </a:p>
          <a:p>
            <a:r>
              <a:rPr lang="en-US" sz="2400" dirty="0"/>
              <a:t>BMX</a:t>
            </a:r>
          </a:p>
          <a:p>
            <a:r>
              <a:rPr lang="en-US" sz="2400" dirty="0"/>
              <a:t>Mountain biking</a:t>
            </a:r>
          </a:p>
          <a:p>
            <a:r>
              <a:rPr lang="en-US" sz="2400" dirty="0"/>
              <a:t>Variety of Scout camp-specific open programs</a:t>
            </a:r>
          </a:p>
        </p:txBody>
      </p:sp>
    </p:spTree>
    <p:extLst>
      <p:ext uri="{BB962C8B-B14F-4D97-AF65-F5344CB8AC3E}">
        <p14:creationId xmlns:p14="http://schemas.microsoft.com/office/powerpoint/2010/main" val="23230106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E388-6E4E-69CA-8A97-7F265F14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742FE0-CAA4-4CD1-AADB-43769E2CF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7419" y="-3636824"/>
            <a:ext cx="13397345" cy="1339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295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C622-122A-4CC9-E451-516666C8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Amazing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EC57-4BB6-3E74-1FA7-32A2ABD2D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Trainings for youth and adults</a:t>
            </a:r>
          </a:p>
          <a:p>
            <a:pPr lvl="1"/>
            <a:r>
              <a:rPr lang="en-US" sz="2100" dirty="0"/>
              <a:t>National Advanced Youth Leadership Experience (N.A.Y.L.E.)</a:t>
            </a:r>
          </a:p>
          <a:p>
            <a:pPr lvl="1"/>
            <a:r>
              <a:rPr lang="en-US" sz="2100" dirty="0"/>
              <a:t>Leave No Trace Level II Trainer</a:t>
            </a:r>
          </a:p>
          <a:p>
            <a:pPr lvl="1"/>
            <a:r>
              <a:rPr lang="en-US" sz="2100" dirty="0"/>
              <a:t>Certified Angler Instructor</a:t>
            </a:r>
          </a:p>
          <a:p>
            <a:pPr lvl="1"/>
            <a:r>
              <a:rPr lang="en-US" sz="2100" dirty="0"/>
              <a:t>Linked Wood Badge Course</a:t>
            </a:r>
          </a:p>
          <a:p>
            <a:pPr lvl="1"/>
            <a:r>
              <a:rPr lang="en-US" sz="2100" dirty="0"/>
              <a:t>Many others!</a:t>
            </a:r>
          </a:p>
          <a:p>
            <a:pPr lvl="1"/>
            <a:r>
              <a:rPr lang="en-US" sz="2000" dirty="0"/>
              <a:t>Visit </a:t>
            </a:r>
            <a:r>
              <a:rPr lang="en-US" sz="2000" dirty="0">
                <a:hlinkClick r:id="rId2"/>
              </a:rPr>
              <a:t>www.summitbsa.org/training</a:t>
            </a:r>
            <a:r>
              <a:rPr lang="en-US" sz="2000" dirty="0"/>
              <a:t> to learn more about training</a:t>
            </a:r>
          </a:p>
          <a:p>
            <a:pPr lvl="1"/>
            <a:endParaRPr lang="en-US" sz="2000" dirty="0"/>
          </a:p>
          <a:p>
            <a:pPr marL="342900" lvl="1" indent="0">
              <a:buNone/>
            </a:pPr>
            <a:endParaRPr lang="en-US" sz="2100" dirty="0"/>
          </a:p>
          <a:p>
            <a:r>
              <a:rPr lang="en-US" sz="2400" dirty="0"/>
              <a:t>Have your next wedding, meeting, or conference at the Summit!</a:t>
            </a:r>
          </a:p>
          <a:p>
            <a:pPr lvl="1"/>
            <a:r>
              <a:rPr lang="en-US" sz="2100" dirty="0"/>
              <a:t>Visit </a:t>
            </a:r>
            <a:r>
              <a:rPr lang="en-US" sz="2100" dirty="0">
                <a:hlinkClick r:id="rId3"/>
              </a:rPr>
              <a:t>www.summiteventswv.com</a:t>
            </a:r>
            <a:r>
              <a:rPr lang="en-US" sz="2100" dirty="0"/>
              <a:t> to learn about the many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0E201-C3CC-7C38-E30B-19B043DBFB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9264" y="1690690"/>
            <a:ext cx="4461389" cy="304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2B49-76D8-AD89-77BC-D4703A79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Summit Staff—Best Job Ever!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CD6A-3F7E-B151-DDFA-9FAD2D0B0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Summit will welcome more than fifteen thousand guests this summer</a:t>
            </a:r>
          </a:p>
          <a:p>
            <a:r>
              <a:rPr lang="en-US" sz="2400" dirty="0"/>
              <a:t>To facilitate and support the programs we offer, we hire nearly three hundred seasonal staff members across a variety of program and operational areas</a:t>
            </a:r>
          </a:p>
          <a:p>
            <a:pPr lvl="1"/>
            <a:r>
              <a:rPr lang="en-US" sz="2100" dirty="0"/>
              <a:t>Program (Scout camp, high adventure)</a:t>
            </a:r>
          </a:p>
          <a:p>
            <a:pPr lvl="1"/>
            <a:r>
              <a:rPr lang="en-US" sz="2100" dirty="0"/>
              <a:t>Media and marketing</a:t>
            </a:r>
          </a:p>
          <a:p>
            <a:pPr lvl="1"/>
            <a:r>
              <a:rPr lang="en-US" sz="2100" dirty="0"/>
              <a:t>Hospitality and foodservice</a:t>
            </a:r>
          </a:p>
          <a:p>
            <a:pPr lvl="1"/>
            <a:r>
              <a:rPr lang="en-US" sz="2100" dirty="0"/>
              <a:t>Registration</a:t>
            </a:r>
          </a:p>
          <a:p>
            <a:r>
              <a:rPr lang="en-US" sz="2400" dirty="0"/>
              <a:t>Applicants must be eighteen or older</a:t>
            </a:r>
          </a:p>
          <a:p>
            <a:r>
              <a:rPr lang="en-US" sz="2400" dirty="0"/>
              <a:t>Great pay, housing in summer camp tents, and three hot meals per day provided</a:t>
            </a:r>
          </a:p>
          <a:p>
            <a:r>
              <a:rPr lang="en-US" sz="2400" dirty="0"/>
              <a:t>Internship credit available</a:t>
            </a:r>
          </a:p>
        </p:txBody>
      </p:sp>
    </p:spTree>
    <p:extLst>
      <p:ext uri="{BB962C8B-B14F-4D97-AF65-F5344CB8AC3E}">
        <p14:creationId xmlns:p14="http://schemas.microsoft.com/office/powerpoint/2010/main" val="34664522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4F65-7EF4-8AD1-50F9-F0CA7813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Today!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C905C-E1A2-D16E-9EF6-1987B358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5400" dirty="0"/>
          </a:p>
          <a:p>
            <a:pPr marL="0" indent="0" algn="ctr">
              <a:buNone/>
            </a:pPr>
            <a:r>
              <a:rPr lang="en-US" sz="6600" dirty="0">
                <a:hlinkClick r:id="rId2"/>
              </a:rPr>
              <a:t>www.summitbsa.org</a:t>
            </a:r>
            <a:r>
              <a:rPr lang="en-US" sz="6600">
                <a:hlinkClick r:id="rId2"/>
              </a:rPr>
              <a:t>/jobs</a:t>
            </a:r>
            <a:r>
              <a:rPr lang="en-US" sz="6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33821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1E54-1244-F45F-363E-9CE82AEC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14383-61DC-90A9-FE25-8AA1DD957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D07C2-2FE2-CD0B-B3E7-B856D44B7F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7393" y="-983905"/>
            <a:ext cx="12306785" cy="82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419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5650-48EB-1AB8-0D4C-E285540A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Us/Stay in Touch!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E5FCE-92A6-2F33-BE59-BC476477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Johnny Tracy, onsite programs/outreach</a:t>
            </a:r>
          </a:p>
          <a:p>
            <a:pPr marL="0" indent="0" algn="ctr">
              <a:buNone/>
            </a:pPr>
            <a:r>
              <a:rPr lang="en-US" sz="4000" dirty="0"/>
              <a:t>901-489-6027 (call or text)</a:t>
            </a:r>
          </a:p>
          <a:p>
            <a:pPr marL="0" indent="0" algn="ctr">
              <a:buNone/>
            </a:pPr>
            <a:r>
              <a:rPr lang="en-US" sz="4000" dirty="0">
                <a:hlinkClick r:id="rId2"/>
              </a:rPr>
              <a:t>Johnny.Tracy@scouting.org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hlinkClick r:id="rId3"/>
              </a:rPr>
              <a:t>www.summitbsa.org</a:t>
            </a:r>
            <a:endParaRPr lang="en-US" sz="4000" dirty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</a:rPr>
              <a:t>Our team regularly visits council and district events in numerous councils. We can also visit district roundtables, unit meetings, and other events virtually or in person!</a:t>
            </a:r>
          </a:p>
          <a:p>
            <a:pPr marL="0" indent="0" algn="ctr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12492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5B0E-DD8A-00E3-2942-C4BA4A85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7A83-542C-5F06-CDA6-FE55AD28D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A127F-2670-7F80-0F8D-17ABF30D33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6069" y="-525443"/>
            <a:ext cx="12318069" cy="821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1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pecial Events">
  <a:themeElements>
    <a:clrScheme name="Custom 3">
      <a:dk1>
        <a:srgbClr val="231E1E"/>
      </a:dk1>
      <a:lt1>
        <a:sysClr val="window" lastClr="FFFFFF"/>
      </a:lt1>
      <a:dk2>
        <a:srgbClr val="231E1E"/>
      </a:dk2>
      <a:lt2>
        <a:srgbClr val="C2B59B"/>
      </a:lt2>
      <a:accent1>
        <a:srgbClr val="3B6E8F"/>
      </a:accent1>
      <a:accent2>
        <a:srgbClr val="F7931E"/>
      </a:accent2>
      <a:accent3>
        <a:srgbClr val="4A5120"/>
      </a:accent3>
      <a:accent4>
        <a:srgbClr val="8F5621"/>
      </a:accent4>
      <a:accent5>
        <a:srgbClr val="F7931E"/>
      </a:accent5>
      <a:accent6>
        <a:srgbClr val="767E84"/>
      </a:accent6>
      <a:hlink>
        <a:srgbClr val="3B6E8F"/>
      </a:hlink>
      <a:folHlink>
        <a:srgbClr val="767E84"/>
      </a:folHlink>
    </a:clrScheme>
    <a:fontScheme name="The Summit">
      <a:majorFont>
        <a:latin typeface="Univers 65 Bold"/>
        <a:ea typeface=""/>
        <a:cs typeface=""/>
      </a:majorFont>
      <a:minorFont>
        <a:latin typeface="Univers 45 Light"/>
        <a:ea typeface=""/>
        <a:cs typeface="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1_Quotable">
  <a:themeElements>
    <a:clrScheme name="The Summit">
      <a:dk1>
        <a:srgbClr val="231E1E"/>
      </a:dk1>
      <a:lt1>
        <a:sysClr val="window" lastClr="FFFFFF"/>
      </a:lt1>
      <a:dk2>
        <a:srgbClr val="231E1E"/>
      </a:dk2>
      <a:lt2>
        <a:srgbClr val="C2B59B"/>
      </a:lt2>
      <a:accent1>
        <a:srgbClr val="4A5120"/>
      </a:accent1>
      <a:accent2>
        <a:srgbClr val="7D7D46"/>
      </a:accent2>
      <a:accent3>
        <a:srgbClr val="F7931E"/>
      </a:accent3>
      <a:accent4>
        <a:srgbClr val="8F5621"/>
      </a:accent4>
      <a:accent5>
        <a:srgbClr val="3B6E8F"/>
      </a:accent5>
      <a:accent6>
        <a:srgbClr val="767E84"/>
      </a:accent6>
      <a:hlink>
        <a:srgbClr val="3B6E8F"/>
      </a:hlink>
      <a:folHlink>
        <a:srgbClr val="767E84"/>
      </a:folHlink>
    </a:clrScheme>
    <a:fontScheme name="The Summit">
      <a:majorFont>
        <a:latin typeface="Univers 65 Bold"/>
        <a:ea typeface=""/>
        <a:cs typeface=""/>
      </a:majorFont>
      <a:minorFont>
        <a:latin typeface="Univers 45 Light"/>
        <a:ea typeface=""/>
        <a:cs typeface="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3.xml><?xml version="1.0" encoding="utf-8"?>
<a:theme xmlns:a="http://schemas.openxmlformats.org/drawingml/2006/main" name="Training Center">
  <a:themeElements>
    <a:clrScheme name="Custom 2">
      <a:dk1>
        <a:srgbClr val="231E1E"/>
      </a:dk1>
      <a:lt1>
        <a:sysClr val="window" lastClr="FFFFFF"/>
      </a:lt1>
      <a:dk2>
        <a:srgbClr val="231E1E"/>
      </a:dk2>
      <a:lt2>
        <a:srgbClr val="C2B59B"/>
      </a:lt2>
      <a:accent1>
        <a:srgbClr val="8F5621"/>
      </a:accent1>
      <a:accent2>
        <a:srgbClr val="7D7D46"/>
      </a:accent2>
      <a:accent3>
        <a:srgbClr val="F7931E"/>
      </a:accent3>
      <a:accent4>
        <a:srgbClr val="8F5621"/>
      </a:accent4>
      <a:accent5>
        <a:srgbClr val="3B6E8F"/>
      </a:accent5>
      <a:accent6>
        <a:srgbClr val="767E84"/>
      </a:accent6>
      <a:hlink>
        <a:srgbClr val="3B6E8F"/>
      </a:hlink>
      <a:folHlink>
        <a:srgbClr val="767E84"/>
      </a:folHlink>
    </a:clrScheme>
    <a:fontScheme name="The Summit">
      <a:majorFont>
        <a:latin typeface="Univers 65 Bold"/>
        <a:ea typeface=""/>
        <a:cs typeface=""/>
      </a:majorFont>
      <a:minorFont>
        <a:latin typeface="Univers 45 Light"/>
        <a:ea typeface=""/>
        <a:cs typeface="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4.xml><?xml version="1.0" encoding="utf-8"?>
<a:theme xmlns:a="http://schemas.openxmlformats.org/drawingml/2006/main" name="New Summit Slide Concepts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Summit Slide Concepts- FINAL" id="{C5349BEA-6235-4D63-8C67-EC166A207A9D}" vid="{D9F51733-762A-439A-886C-3F2908F7A63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3e821a2-d2a1-402f-8a93-31b83f2e4367">
      <UserInfo>
        <DisplayName>Isaac Colvard</DisplayName>
        <AccountId>23</AccountId>
        <AccountType/>
      </UserInfo>
      <UserInfo>
        <DisplayName>Matthew Reineck</DisplayName>
        <AccountId>20</AccountId>
        <AccountType/>
      </UserInfo>
    </SharedWithUsers>
    <MediaLengthInSeconds xmlns="b69519cf-d36c-47f9-ab53-d7c5f5d93dc7" xsi:nil="true"/>
    <lcf76f155ced4ddcb4097134ff3c332f xmlns="b69519cf-d36c-47f9-ab53-d7c5f5d93dc7">
      <Terms xmlns="http://schemas.microsoft.com/office/infopath/2007/PartnerControls"/>
    </lcf76f155ced4ddcb4097134ff3c332f>
    <TaxCatchAll xmlns="33e821a2-d2a1-402f-8a93-31b83f2e436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8EA0215C5C8D46911C1B6F13C4C554" ma:contentTypeVersion="18" ma:contentTypeDescription="Create a new document." ma:contentTypeScope="" ma:versionID="56df20e67e5bcfdf4a240cbe77961868">
  <xsd:schema xmlns:xsd="http://www.w3.org/2001/XMLSchema" xmlns:xs="http://www.w3.org/2001/XMLSchema" xmlns:p="http://schemas.microsoft.com/office/2006/metadata/properties" xmlns:ns2="b69519cf-d36c-47f9-ab53-d7c5f5d93dc7" xmlns:ns3="33e821a2-d2a1-402f-8a93-31b83f2e4367" targetNamespace="http://schemas.microsoft.com/office/2006/metadata/properties" ma:root="true" ma:fieldsID="4244a61f8d6ca6e199bffec4a65d815c" ns2:_="" ns3:_="">
    <xsd:import namespace="b69519cf-d36c-47f9-ab53-d7c5f5d93dc7"/>
    <xsd:import namespace="33e821a2-d2a1-402f-8a93-31b83f2e43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9519cf-d36c-47f9-ab53-d7c5f5d93d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79308d4-bde5-4dca-adcb-0162404f86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e821a2-d2a1-402f-8a93-31b83f2e436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bbf6e79-7a25-4a0d-9fa0-aa80947a78af}" ma:internalName="TaxCatchAll" ma:showField="CatchAllData" ma:web="33e821a2-d2a1-402f-8a93-31b83f2e43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29D7-A3B1-4461-916E-21F2EABEBD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6765F0-D89E-402A-AEB3-036E24516D72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b69519cf-d36c-47f9-ab53-d7c5f5d93dc7"/>
    <ds:schemaRef ds:uri="http://schemas.microsoft.com/office/infopath/2007/PartnerControls"/>
    <ds:schemaRef ds:uri="http://schemas.openxmlformats.org/package/2006/metadata/core-properties"/>
    <ds:schemaRef ds:uri="33e821a2-d2a1-402f-8a93-31b83f2e436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A81E846-17A8-4E4C-9AE4-2D21DB5754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9519cf-d36c-47f9-ab53-d7c5f5d93dc7"/>
    <ds:schemaRef ds:uri="33e821a2-d2a1-402f-8a93-31b83f2e43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40a3ed-7db1-4507-aabd-ebcf05b5d43f}" enabled="1" method="Standard" siteId="{fd9008a0-7846-4989-a4c5-77cfad3f7e4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6891</TotalTime>
  <Words>1070</Words>
  <Application>Microsoft Macintosh PowerPoint</Application>
  <PresentationFormat>Widescreen</PresentationFormat>
  <Paragraphs>140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Franklin Gothic Demi</vt:lpstr>
      <vt:lpstr>Univers 65 Bold</vt:lpstr>
      <vt:lpstr>Calibri</vt:lpstr>
      <vt:lpstr>Franklin Gothic Medium</vt:lpstr>
      <vt:lpstr>Franklin Gothic Medium Cond</vt:lpstr>
      <vt:lpstr>Univers 45 Light</vt:lpstr>
      <vt:lpstr>Wingdings 2</vt:lpstr>
      <vt:lpstr>Special Events</vt:lpstr>
      <vt:lpstr>1_Quotable</vt:lpstr>
      <vt:lpstr>Training Center</vt:lpstr>
      <vt:lpstr>New Summit Slide Concepts- FINAL</vt:lpstr>
      <vt:lpstr>Programs and Opportunities at the Summit Bechtel Reserve</vt:lpstr>
      <vt:lpstr>PowerPoint Presentation</vt:lpstr>
      <vt:lpstr>Welcome!</vt:lpstr>
      <vt:lpstr>What is there to do?</vt:lpstr>
      <vt:lpstr>The Summit Bechtel Reserve is the permanent home of the National Scout Jamboree and the occasional home of the World Scout Jamboree.  That’s it.</vt:lpstr>
      <vt:lpstr>PowerPoint Presentation</vt:lpstr>
      <vt:lpstr>Just kidding!   The Summit, a National High Adventure Base of the Scouting America, is the home of the James C. Justice National Scout Camp, five incredible high-adventure experiences, and countless other opportunities for Scouts and the wider community!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is the Summit?</vt:lpstr>
      <vt:lpstr>PowerPoint Presentation</vt:lpstr>
      <vt:lpstr>How big is the Summit?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Summer Camp at the Summit</vt:lpstr>
      <vt:lpstr>PowerPoint Presentation</vt:lpstr>
      <vt:lpstr>PowerPoint Presentation</vt:lpstr>
      <vt:lpstr>James C. Justice National Scout Camp</vt:lpstr>
      <vt:lpstr>PowerPoint Presentation</vt:lpstr>
      <vt:lpstr>High-adventure Buy-up Programs</vt:lpstr>
      <vt:lpstr>Why Summer Camp at the Summit?</vt:lpstr>
      <vt:lpstr>PowerPoint Presentation</vt:lpstr>
      <vt:lpstr>PowerPoint Presentation</vt:lpstr>
      <vt:lpstr>We own adventure! </vt:lpstr>
      <vt:lpstr>High-adventure Programs</vt:lpstr>
      <vt:lpstr>Summit Experience</vt:lpstr>
      <vt:lpstr>New River Experience</vt:lpstr>
      <vt:lpstr>PowerPoint Presentation</vt:lpstr>
      <vt:lpstr>PowerPoint Presentation</vt:lpstr>
      <vt:lpstr>Polaris A.T.V. Experience</vt:lpstr>
      <vt:lpstr>PowerPoint Presentation</vt:lpstr>
      <vt:lpstr>Marksman Experience</vt:lpstr>
      <vt:lpstr>PowerPoint Presentation</vt:lpstr>
      <vt:lpstr>Pack n’ Paddle Experience</vt:lpstr>
      <vt:lpstr>PowerPoint Presentation</vt:lpstr>
      <vt:lpstr>PowerPoint Presentation</vt:lpstr>
      <vt:lpstr>Evening Programs (open to all) </vt:lpstr>
      <vt:lpstr>PowerPoint Presentation</vt:lpstr>
      <vt:lpstr>Other Amazing Opportunities</vt:lpstr>
      <vt:lpstr>Summit Staff—Best Job Ever!</vt:lpstr>
      <vt:lpstr>Apply Today!</vt:lpstr>
      <vt:lpstr>PowerPoint Presentation</vt:lpstr>
      <vt:lpstr>Visit Us/Stay in Touch!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Summit Bechtel Reserve</dc:title>
  <dc:creator>Walter Lester</dc:creator>
  <cp:lastModifiedBy>Johnny Tracy</cp:lastModifiedBy>
  <cp:revision>59</cp:revision>
  <cp:lastPrinted>2024-02-22T17:40:40Z</cp:lastPrinted>
  <dcterms:created xsi:type="dcterms:W3CDTF">2022-02-16T02:41:14Z</dcterms:created>
  <dcterms:modified xsi:type="dcterms:W3CDTF">2026-10-01T14:32:24Z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0x010100408EA0215C5C8D46911C1B6F13C4C554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MSIP_Label_1540a3ed-7db1-4507-aabd-ebcf05b5d43f_Enabled">
    <vt:lpwstr>true</vt:lpwstr>
  </property>
  <property fmtid="{D5CDD505-2E9C-101B-9397-08002B2CF9AE}" pid="12" name="MSIP_Label_1540a3ed-7db1-4507-aabd-ebcf05b5d43f_SetDate">
    <vt:lpwstr>2024-02-27T22:37:08Z</vt:lpwstr>
  </property>
  <property fmtid="{D5CDD505-2E9C-101B-9397-08002B2CF9AE}" pid="13" name="MSIP_Label_1540a3ed-7db1-4507-aabd-ebcf05b5d43f_Method">
    <vt:lpwstr>Standard</vt:lpwstr>
  </property>
  <property fmtid="{D5CDD505-2E9C-101B-9397-08002B2CF9AE}" pid="14" name="MSIP_Label_1540a3ed-7db1-4507-aabd-ebcf05b5d43f_Name">
    <vt:lpwstr>Public Information</vt:lpwstr>
  </property>
  <property fmtid="{D5CDD505-2E9C-101B-9397-08002B2CF9AE}" pid="15" name="MSIP_Label_1540a3ed-7db1-4507-aabd-ebcf05b5d43f_SiteId">
    <vt:lpwstr>fd9008a0-7846-4989-a4c5-77cfad3f7e4e</vt:lpwstr>
  </property>
  <property fmtid="{D5CDD505-2E9C-101B-9397-08002B2CF9AE}" pid="16" name="MSIP_Label_1540a3ed-7db1-4507-aabd-ebcf05b5d43f_ActionId">
    <vt:lpwstr>e0973965-5690-4cad-b8aa-18bd7e7587fc</vt:lpwstr>
  </property>
  <property fmtid="{D5CDD505-2E9C-101B-9397-08002B2CF9AE}" pid="17" name="MSIP_Label_1540a3ed-7db1-4507-aabd-ebcf05b5d43f_ContentBits">
    <vt:lpwstr>0</vt:lpwstr>
  </property>
</Properties>
</file>